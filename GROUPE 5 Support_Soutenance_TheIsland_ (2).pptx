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80" r:id="rId18"/>
    <p:sldId id="283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16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36D8-E34E-6D9D-4D54-F828E52E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2BE5-B12A-EC3A-D1D3-EB5489437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FC553-C4DA-9824-7B75-3F5FF6B98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73C1-D78E-7F4F-8B0A-94281951A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63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D0C9-9522-C2BB-00C2-F6C1FDD8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1152E-5071-AEBB-6BC5-4A5A57BDF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13250-6333-5713-DCBA-42BA0CCDC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F6E79-B1DE-EC6B-867D-CFBD2B452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284276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ISLAND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13232" y="1344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28752" y="4234688"/>
            <a:ext cx="3886200" cy="402336"/>
          </a:xfrm>
          <a:prstGeom prst="roundRect">
            <a:avLst>
              <a:gd name="adj" fmla="val 27273"/>
            </a:avLst>
          </a:prstGeom>
          <a:solidFill>
            <a:srgbClr val="00A6B4">
              <a:alpha val="90000"/>
            </a:srgbClr>
          </a:solidFill>
          <a:ln w="12700">
            <a:solidFill>
              <a:srgbClr val="00A6B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428752" y="4358132"/>
            <a:ext cx="3593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Projet POO • Java 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" y="6016752"/>
            <a:ext cx="4754880" cy="0"/>
          </a:xfrm>
          <a:prstGeom prst="line">
            <a:avLst/>
          </a:prstGeom>
          <a:noFill/>
          <a:ln w="19050">
            <a:solidFill>
              <a:srgbClr val="6EE7F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13232" y="61813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BFF"/>
                </a:solidFill>
              </a:rPr>
              <a:t>Najlae BETTACHE • Mamadou Sadio DIALLO • Boubacar BOULKASSOUM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BFF"/>
                </a:solidFill>
              </a:rPr>
              <a:t>Nathanaël FOUODJI DJOUDA • Uriel Ange Javituriel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soutenance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080" y="8412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8FF"/>
                </a:solidFill>
              </a:rPr>
              <a:t>Notre présentation suit le trajet d’une partie : de l’objectif du jeu jusqu’au bilan technique.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6459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941832" y="19385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18105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21488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Introduction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contexte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462272" y="17099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74920" y="15819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74920" y="19202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Architecture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modèle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7818120" y="16459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982712" y="19385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595360" y="18105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95360" y="21488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Services métier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interface Swing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818120" y="41605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7982712" y="44531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595360" y="43251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95360" y="4663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Tests unitaires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manuel utilisateur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4297680" y="443484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462272" y="4727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74920" y="459943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74920" y="49377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Planning, tâches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outils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77240" y="4160520"/>
            <a:ext cx="2788920" cy="1143000"/>
          </a:xfrm>
          <a:prstGeom prst="roundRect">
            <a:avLst>
              <a:gd name="adj" fmla="val 9600"/>
            </a:avLst>
          </a:prstGeom>
          <a:solidFill>
            <a:srgbClr val="061C2D">
              <a:alpha val="92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941832" y="44531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554480" y="432511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06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554480" y="4663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Problèmes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et bilan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et contexte du projet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: rendre The Island jouable sur ordinateur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</a:rPr>
              <a:t>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joueurs humains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1488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E7F9"/>
                </a:solidFill>
              </a:rPr>
              <a:t>40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488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tuiles terrain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35204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204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créatures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489204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92040" y="2587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D7F8FF"/>
                </a:solidFill>
              </a:rPr>
              <a:t>volcan final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13232" y="306324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061C2D">
              <a:alpha val="93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6012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8444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Contexte de jeu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600200" y="387705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Les explorateurs fuient une île qui s’enfonce progressivement.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0120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600200" y="433425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But du joueur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600200" y="462686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Sauver un maximum d’explorateurs avant l’éruption du volcan.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60120" y="5065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600200" y="508406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Contraintes projet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600200" y="537667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Java, Swing, Maven, plusieurs joueurs sur une seule machine.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601968" y="1755648"/>
            <a:ext cx="4764024" cy="3758184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8" name="Image 1" descr="/mnt/data/image(40).png"/>
          <p:cNvPicPr>
            <a:picLocks noChangeAspect="1"/>
          </p:cNvPicPr>
          <p:nvPr/>
        </p:nvPicPr>
        <p:blipFill>
          <a:blip r:embed="rId4"/>
          <a:srcRect l="6307" r="6306"/>
          <a:stretch/>
        </p:blipFill>
        <p:spPr>
          <a:xfrm>
            <a:off x="6629400" y="1783080"/>
            <a:ext cx="4709160" cy="37033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739128" y="5102352"/>
            <a:ext cx="448970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858000" y="5175504"/>
            <a:ext cx="4251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Écran d’accueil du jeu</a:t>
            </a:r>
            <a:endParaRPr lang="en-US" sz="930" dirty="0"/>
          </a:p>
        </p:txBody>
      </p:sp>
      <p:sp>
        <p:nvSpPr>
          <p:cNvPr id="31" name="Text 2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Déroulement d’une partie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boucle de tour claire et contrôlée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Chaque action est vérifiée avant d’être appliquée au modèle de jeu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4183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Tuile en main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Jouer ou passer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51460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86207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28600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Déplacements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9456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3 points par tour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3484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8231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20624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Retrait terrain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Plage → forêt → montagne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35508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0255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 créature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Serpent / requin / baleine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75320" y="2057400"/>
            <a:ext cx="1234440" cy="1078992"/>
          </a:xfrm>
          <a:prstGeom prst="hexagon">
            <a:avLst/>
          </a:prstGeom>
          <a:solidFill>
            <a:srgbClr val="FFD166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62279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509760" y="2587752"/>
            <a:ext cx="649224" cy="0"/>
          </a:xfrm>
          <a:prstGeom prst="line">
            <a:avLst/>
          </a:prstGeom>
          <a:noFill/>
          <a:ln w="17780">
            <a:solidFill>
              <a:srgbClr val="BFF7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04672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Déplacement créature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5528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Effet immédiat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0195560" y="2057400"/>
            <a:ext cx="1234440" cy="1078992"/>
          </a:xfrm>
          <a:prstGeom prst="hexagon">
            <a:avLst/>
          </a:prstGeom>
          <a:solidFill>
            <a:srgbClr val="00A6B4"/>
          </a:solidFill>
          <a:ln w="19050">
            <a:solidFill>
              <a:srgbClr val="FFFFFF">
                <a:alpha val="8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0543032" y="2350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966960" y="34107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Joueur suivant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75520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BFF7FF"/>
                </a:solidFill>
              </a:rPr>
              <a:t>Tour en séquence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31520" y="4892040"/>
            <a:ext cx="1074420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10000"/>
            </a:srgbClr>
          </a:solidFill>
          <a:ln w="13970">
            <a:solidFill>
              <a:srgbClr val="7DD3FC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005840" y="523036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À tout moment, les clics invalides sont refusés et un message explique la raison : case non adjacente, bateau plein, mauvaise phase, mauvaise tuile à retirer, etc.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en couches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B69"/>
                </a:solidFill>
              </a:rPr>
              <a:t>Les packages séparent l’affichage, la logique métier, les déplacements, l’initialisation et le modèle de domaine.</a:t>
            </a:r>
            <a:endParaRPr lang="en-US" sz="1250" dirty="0"/>
          </a:p>
        </p:txBody>
      </p:sp>
      <p:pic>
        <p:nvPicPr>
          <p:cNvPr id="8" name="Image 0" descr="/mnt/data/Diagramme_TheIsland_SansPhr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854" y="1700784"/>
            <a:ext cx="8831826" cy="49329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51148-C88F-5CA7-CC6D-FD2540B5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88043-6ECF-1301-173F-AA194EECD9D4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039221-BA6F-49AF-C422-AA0C7CABCBC6}"/>
              </a:ext>
            </a:extLst>
          </p:cNvPr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5A51DD-7055-5512-81ED-A78055189C79}"/>
              </a:ext>
            </a:extLst>
          </p:cNvPr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FB8BEB-403C-2193-85CB-C3CD002E120B}"/>
              </a:ext>
            </a:extLst>
          </p:cNvPr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F99535-F2C3-EB9B-769E-2CF57AA9D6B1}"/>
              </a:ext>
            </a:extLst>
          </p:cNvPr>
          <p:cNvSpPr/>
          <p:nvPr/>
        </p:nvSpPr>
        <p:spPr>
          <a:xfrm>
            <a:off x="548640" y="841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des packages et rôles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DE574C-9A63-23BB-5276-B1F0E7FDFFBE}"/>
              </a:ext>
            </a:extLst>
          </p:cNvPr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A92447-59D4-3EBB-BCB9-ED501DF2E752}"/>
              </a:ext>
            </a:extLst>
          </p:cNvPr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06</a:t>
            </a:r>
            <a:endParaRPr lang="en-US" sz="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BD963E-6B6D-754B-4D08-F7A37B2686BE}"/>
              </a:ext>
            </a:extLst>
          </p:cNvPr>
          <p:cNvSpPr txBox="1"/>
          <p:nvPr/>
        </p:nvSpPr>
        <p:spPr>
          <a:xfrm>
            <a:off x="1982787" y="1830832"/>
            <a:ext cx="85582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fr.iatic.theisland.model</a:t>
            </a:r>
            <a:r>
              <a:rPr lang="fr-FR" b="1" dirty="0"/>
              <a:t> : </a:t>
            </a:r>
            <a:r>
              <a:rPr lang="fr-FR" dirty="0"/>
              <a:t>modèle de domaine principal : plateau, explorateurs, bateaux, créatures.</a:t>
            </a:r>
          </a:p>
          <a:p>
            <a:endParaRPr lang="fr-FR" dirty="0"/>
          </a:p>
          <a:p>
            <a:r>
              <a:rPr lang="fr-FR" b="1" dirty="0" err="1"/>
              <a:t>fr.iatic.theisland.setup</a:t>
            </a:r>
            <a:r>
              <a:rPr lang="fr-FR" b="1" dirty="0"/>
              <a:t> : </a:t>
            </a:r>
            <a:r>
              <a:rPr lang="fr-FR" dirty="0"/>
              <a:t>initialisation du plateau, des joueurs et de l’état de la partie.</a:t>
            </a:r>
          </a:p>
          <a:p>
            <a:endParaRPr lang="fr-FR" dirty="0"/>
          </a:p>
          <a:p>
            <a:r>
              <a:rPr lang="fr-FR" b="1" dirty="0" err="1"/>
              <a:t>fr.iatic.theisland.movement</a:t>
            </a:r>
            <a:r>
              <a:rPr lang="fr-FR" b="1" dirty="0"/>
              <a:t> : </a:t>
            </a:r>
            <a:r>
              <a:rPr lang="fr-FR" dirty="0"/>
              <a:t>règles de déplacement des explorateurs, nageurs et bateaux.</a:t>
            </a:r>
          </a:p>
          <a:p>
            <a:endParaRPr lang="fr-FR" dirty="0"/>
          </a:p>
          <a:p>
            <a:r>
              <a:rPr lang="fr-FR" b="1" dirty="0" err="1"/>
              <a:t>fr.iatic.theisland.engine</a:t>
            </a:r>
            <a:r>
              <a:rPr lang="fr-FR" b="1" dirty="0"/>
              <a:t> : </a:t>
            </a:r>
            <a:r>
              <a:rPr lang="fr-FR" dirty="0"/>
              <a:t>moteur du jeu, retrait des tuiles, effets, créatures et volcan.</a:t>
            </a:r>
          </a:p>
          <a:p>
            <a:endParaRPr lang="fr-FR" dirty="0"/>
          </a:p>
          <a:p>
            <a:r>
              <a:rPr lang="fr-FR" b="1" dirty="0" err="1"/>
              <a:t>fr.iatic.theisland.ui</a:t>
            </a:r>
            <a:r>
              <a:rPr lang="fr-FR" b="1" dirty="0"/>
              <a:t> : </a:t>
            </a:r>
            <a:r>
              <a:rPr lang="fr-FR" dirty="0"/>
              <a:t>interface graphique utilisateur basée sur Java Swing.</a:t>
            </a:r>
          </a:p>
          <a:p>
            <a:endParaRPr lang="fr-FR" dirty="0"/>
          </a:p>
          <a:p>
            <a:r>
              <a:rPr lang="fr-FR" b="1" dirty="0" err="1"/>
              <a:t>fr.iatic.theisland</a:t>
            </a:r>
            <a:r>
              <a:rPr lang="fr-FR" b="1" dirty="0"/>
              <a:t> : </a:t>
            </a:r>
            <a:r>
              <a:rPr lang="fr-FR" dirty="0"/>
              <a:t>point d’entrée de l’application avec la classe App.</a:t>
            </a:r>
          </a:p>
        </p:txBody>
      </p:sp>
    </p:spTree>
    <p:extLst>
      <p:ext uri="{BB962C8B-B14F-4D97-AF65-F5344CB8AC3E}">
        <p14:creationId xmlns:p14="http://schemas.microsoft.com/office/powerpoint/2010/main" val="124436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7FCF6-0B00-BED3-7DC3-A0AE46C7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4BB846-D86C-B457-23C2-D5668E4E1B7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CA5913-4617-89A5-BD2F-E9D186AFBF15}"/>
              </a:ext>
            </a:extLst>
          </p:cNvPr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556C78-5664-3557-71E0-8090ABA52DE0}"/>
              </a:ext>
            </a:extLst>
          </p:cNvPr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05BDCE-F212-EC82-1727-3C5D09C486A2}"/>
              </a:ext>
            </a:extLst>
          </p:cNvPr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Séparation claire des responsabilités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117FD9-15D0-8B57-316D-42D9495B3144}"/>
              </a:ext>
            </a:extLst>
          </p:cNvPr>
          <p:cNvSpPr/>
          <p:nvPr/>
        </p:nvSpPr>
        <p:spPr>
          <a:xfrm>
            <a:off x="548640" y="841248"/>
            <a:ext cx="6601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Dépendances des modules et lancement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3F1ECE-EACF-75F0-A93B-4E8F913D49B9}"/>
              </a:ext>
            </a:extLst>
          </p:cNvPr>
          <p:cNvSpPr/>
          <p:nvPr/>
        </p:nvSpPr>
        <p:spPr>
          <a:xfrm>
            <a:off x="566928" y="1353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EA338BE-2629-E3FD-A567-C72F646AD33D}"/>
              </a:ext>
            </a:extLst>
          </p:cNvPr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07</a:t>
            </a:r>
            <a:endParaRPr lang="en-US" sz="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716132-6E5D-C729-2B00-D5D9603A351F}"/>
              </a:ext>
            </a:extLst>
          </p:cNvPr>
          <p:cNvSpPr txBox="1"/>
          <p:nvPr/>
        </p:nvSpPr>
        <p:spPr>
          <a:xfrm>
            <a:off x="965201" y="2084832"/>
            <a:ext cx="10583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Les couches supérieures utilisent les couches inférieures afin d’éviter les dépendances circulaires.</a:t>
            </a:r>
          </a:p>
          <a:p>
            <a:endParaRPr lang="fr-FR" b="1" dirty="0"/>
          </a:p>
          <a:p>
            <a:r>
              <a:rPr lang="fr-FR" b="1" dirty="0"/>
              <a:t>Le modèle et les services métier ne dépendent pas de l’interface graphique, ce qui rend le cœur logique réutilisable.</a:t>
            </a:r>
          </a:p>
          <a:p>
            <a:endParaRPr lang="fr-FR" b="1" dirty="0"/>
          </a:p>
          <a:p>
            <a:r>
              <a:rPr lang="fr-FR" b="1" dirty="0"/>
              <a:t>Le point d’entrée est la classe App, qui initialise Swing et lance l’écran d’accueil </a:t>
            </a:r>
            <a:r>
              <a:rPr lang="fr-FR" b="1" dirty="0" err="1"/>
              <a:t>WelcomeFrame</a:t>
            </a:r>
            <a:r>
              <a:rPr lang="fr-FR" b="1" dirty="0"/>
              <a:t>.</a:t>
            </a:r>
          </a:p>
          <a:p>
            <a:endParaRPr lang="fr-FR" b="1" dirty="0"/>
          </a:p>
          <a:p>
            <a:r>
              <a:rPr lang="fr-FR" b="1" dirty="0"/>
              <a:t>L’application utilise Java Swing avec le look-and-</a:t>
            </a:r>
            <a:r>
              <a:rPr lang="fr-FR" b="1" dirty="0" err="1"/>
              <a:t>feel</a:t>
            </a:r>
            <a:r>
              <a:rPr lang="fr-FR" b="1" dirty="0"/>
              <a:t> Nimbus pour une interface plus moderne.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825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de domaine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objets qui représentent le jeu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Le modèle reste indépendant de l’interface graphique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3337560" cy="3611880"/>
          </a:xfrm>
          <a:prstGeom prst="roundRect">
            <a:avLst>
              <a:gd name="adj" fmla="val 3288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96012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00200" y="2167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Board / HexCell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00200" y="245973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Grille hexagonale, voisins, cases de mer, terrains et abris.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01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3172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Explorer / Boat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600200" y="346557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Explorateurs, valeurs cachées, statut, passagers et capacité.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600200" y="41788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Creature / Dice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600200" y="44714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Serpent, requin, baleine et résultat aléatoire du dé.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187452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4632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486400" y="21671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GameState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486400" y="24597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Phase, joueur actif, tuiles en main, fin de partie et scores.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46320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86400" y="31729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PieceState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486400" y="34655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Source centrale des joueurs, explorateurs et bateaux.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4632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486400" y="41788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TerrainTile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5486400" y="4471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8FF"/>
                </a:solidFill>
              </a:rPr>
              <a:t>Type de terrain + effet caché via TileEffect.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065008" y="1161288"/>
            <a:ext cx="3575304" cy="453542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8202168" y="5285232"/>
            <a:ext cx="33009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8321040" y="535838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Plateau + panneau infos</a:t>
            </a:r>
            <a:endParaRPr lang="en-US" sz="930" dirty="0"/>
          </a:p>
        </p:txBody>
      </p:sp>
      <p:sp>
        <p:nvSpPr>
          <p:cNvPr id="33" name="Text 29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08</a:t>
            </a:r>
            <a:endParaRPr lang="en-US" sz="8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D003DBB1-3351-72B9-4F2A-A423408FB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161288"/>
            <a:ext cx="3577071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métier et logique du jeu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Trois services au cœur des règles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Les règles sont centralisées hors de l’interface pour rester testables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1498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73736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MovementService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Déplacements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Explorateur, nageur, bateau, passager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3 points par tour, bateau contrôlé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56362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974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553212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TileRemovalService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Retrait des tuiles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Ordre plage → forêt → montagne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Effets : créature, bateau, tourbillon, volcan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00A6B4">
              <a:alpha val="90000"/>
            </a:srgbClr>
          </a:solidFill>
          <a:ln w="12700">
            <a:solidFill>
              <a:srgbClr val="00A6B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5838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66760" y="18745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34D39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604504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932688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CreatureManager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0" y="25054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Créatures marines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Dé + déplacement + attaque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7F8FF"/>
                </a:solidFill>
              </a:rPr>
              <a:t>Serpent 1, requin 2, baleine 3 cases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407408"/>
            <a:ext cx="2057400" cy="402336"/>
          </a:xfrm>
          <a:prstGeom prst="roundRect">
            <a:avLst>
              <a:gd name="adj" fmla="val 27273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153144" y="4517136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graphique Swing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interface guidée pour jouer sans connaître le code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1847088"/>
            <a:ext cx="3666744" cy="238658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/mnt/data/image(40).png"/>
          <p:cNvPicPr>
            <a:picLocks noChangeAspect="1"/>
          </p:cNvPicPr>
          <p:nvPr/>
        </p:nvPicPr>
        <p:blipFill>
          <a:blip r:embed="rId4"/>
          <a:srcRect t="3030" b="3030"/>
          <a:stretch/>
        </p:blipFill>
        <p:spPr>
          <a:xfrm>
            <a:off x="685800" y="1874520"/>
            <a:ext cx="361188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5528" y="3822192"/>
            <a:ext cx="339242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914400" y="3895344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Accueil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498848" y="1755648"/>
            <a:ext cx="3803904" cy="2478024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/mnt/data/image(61).png"/>
          <p:cNvPicPr>
            <a:picLocks noChangeAspect="1"/>
          </p:cNvPicPr>
          <p:nvPr/>
        </p:nvPicPr>
        <p:blipFill>
          <a:blip r:embed="rId5"/>
          <a:srcRect l="7229" r="7229"/>
          <a:stretch/>
        </p:blipFill>
        <p:spPr>
          <a:xfrm>
            <a:off x="4526280" y="1783080"/>
            <a:ext cx="3749040" cy="24231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36008" y="3822192"/>
            <a:ext cx="35295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4754880" y="3895344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Plateau de départ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8430768" y="1847088"/>
            <a:ext cx="3118104" cy="2386584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3" descr="/mnt/data/image(62).png"/>
          <p:cNvPicPr>
            <a:picLocks noChangeAspect="1"/>
          </p:cNvPicPr>
          <p:nvPr/>
        </p:nvPicPr>
        <p:blipFill>
          <a:blip r:embed="rId6"/>
          <a:srcRect l="17345" r="17345"/>
          <a:stretch/>
        </p:blipFill>
        <p:spPr>
          <a:xfrm>
            <a:off x="8458200" y="1874520"/>
            <a:ext cx="3063240" cy="2331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67928" y="3822192"/>
            <a:ext cx="284378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8686800" y="389534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Partie en cours</a:t>
            </a:r>
            <a:endParaRPr lang="en-US" sz="930" dirty="0"/>
          </a:p>
        </p:txBody>
      </p:sp>
      <p:sp>
        <p:nvSpPr>
          <p:cNvPr id="21" name="Shape 15"/>
          <p:cNvSpPr/>
          <p:nvPr/>
        </p:nvSpPr>
        <p:spPr>
          <a:xfrm>
            <a:off x="822960" y="4663440"/>
            <a:ext cx="10561320" cy="731520"/>
          </a:xfrm>
          <a:prstGeom prst="roundRect">
            <a:avLst>
              <a:gd name="adj" fmla="val 15000"/>
            </a:avLst>
          </a:prstGeom>
          <a:solidFill>
            <a:srgbClr val="061C2D">
              <a:alpha val="97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1051560" y="491947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FBFF"/>
                </a:solidFill>
              </a:rPr>
              <a:t>Le contrôleur d’interaction transforme chaque clic en action : sélectionner, déplacer, retirer une tuile, lancer le dé ou déplacer une créature.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Interactions et validation des 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</a:rPr>
              <a:t>L’utilisateur clique, le jeu valide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15A66"/>
                </a:solidFill>
              </a:rPr>
              <a:t>Les actions impossibles sont bloquées avec un message explicite : c’est indispensable pour un jeu multi-joueurs humain.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46480" y="1847088"/>
            <a:ext cx="4348480" cy="3300984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13970">
            <a:solidFill>
              <a:srgbClr val="CFFAFE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065276" y="4768596"/>
            <a:ext cx="4207764" cy="274320"/>
          </a:xfrm>
          <a:prstGeom prst="roundRect">
            <a:avLst>
              <a:gd name="adj" fmla="val 26667"/>
            </a:avLst>
          </a:prstGeom>
          <a:solidFill>
            <a:srgbClr val="061C2D">
              <a:alpha val="94000"/>
            </a:srgbClr>
          </a:solidFill>
          <a:ln w="12700">
            <a:solidFill>
              <a:srgbClr val="061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68680" y="4809744"/>
            <a:ext cx="4526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Surlignages et clics sur le plateau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263640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Phase correcte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83680" y="22037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 clic ne produit pas la même action selon la phase.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63640" y="2697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Cible valide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83680" y="2953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Adjacence, case mer, bateau contrôlé, capacité de 3.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34472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Effet automatique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583680" y="37033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Créatures, tuiles et volcan sont résolus immédiatement.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63640" y="41970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8368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</a:rPr>
              <a:t>Message joueur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583680" y="4453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L’interface explique pourquoi une action est refusée.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11</a:t>
            </a:r>
            <a:endParaRPr lang="en-US" sz="8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DEE6402-3843-9956-6910-D9F4AC28F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76" y="1860321"/>
            <a:ext cx="3754484" cy="2853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Règles importantes et effets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règles critiques sont prises en compte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00584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4592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Requin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4592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Élimine les nageurs uniquement. Les bateaux restent.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34D39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70916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34924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Baleine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4924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Chavire les bateaux occupés ; les passagers deviennent nageurs.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183880" y="182880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41248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052560" y="2075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Serpent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905256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Élimine nageurs et bateaux occupés sur sa case.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2606040" y="41605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F9731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834640" y="4489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474720" y="4407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Volcan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474720" y="4764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Met immédiatement fin à la partie.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040880" y="41605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061C2D">
              <a:alpha val="94000"/>
            </a:srgbClr>
          </a:solidFill>
          <a:ln w="13970">
            <a:solidFill>
              <a:srgbClr val="A855F7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7269480" y="4489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909560" y="4407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Score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909560" y="4764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F8FF"/>
                </a:solidFill>
              </a:rPr>
              <a:t>Somme des valeurs cachées des explorateurs sauvés.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unitaires et exécutable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projet se compile et se lance hors IDE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F7FF"/>
                </a:solidFill>
              </a:rPr>
              <a:t>Maven + JUnit 5 + JAR exécutable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794760" cy="2926080"/>
          </a:xfrm>
          <a:prstGeom prst="roundRect">
            <a:avLst>
              <a:gd name="adj" fmla="val 3750"/>
            </a:avLst>
          </a:prstGeom>
          <a:solidFill>
            <a:srgbClr val="061C2D">
              <a:alpha val="95000"/>
            </a:srgbClr>
          </a:solidFill>
          <a:ln w="13970">
            <a:solidFill>
              <a:srgbClr val="FFD166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87552" y="2148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166"/>
                </a:solidFill>
              </a:rPr>
              <a:t>16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121408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tests unitaires JUnit 5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BoardInitializationTest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GameSetupFactoryTest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InitialPlacementServiceTest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8FF"/>
                </a:solidFill>
              </a:rPr>
              <a:t>MovementServiceTest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6675120" cy="2926080"/>
          </a:xfrm>
          <a:prstGeom prst="roundRect">
            <a:avLst>
              <a:gd name="adj" fmla="val 3750"/>
            </a:avLst>
          </a:prstGeom>
          <a:solidFill>
            <a:srgbClr val="000000">
              <a:alpha val="78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138928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Compilation et lancement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66360" y="2770632"/>
            <a:ext cx="58064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F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mvn clean package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EE7F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java -jar target/the-island-0.3.0-SNAPSHOT.jar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794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D7F8FF"/>
                </a:solidFill>
              </a:rPr>
              <a:t>Le JAR permet de lancer le jeu sans passer par un éditeur.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Planning, répartition des tâches et outils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</a:rPr>
              <a:t>Organisation du groupe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9987" y="1362456"/>
            <a:ext cx="4251960" cy="521208"/>
          </a:xfrm>
          <a:prstGeom prst="roundRect">
            <a:avLst>
              <a:gd name="adj" fmla="val 17391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r>
              <a:rPr lang="en-US" sz="1000" dirty="0" err="1">
                <a:solidFill>
                  <a:srgbClr val="475569"/>
                </a:solidFill>
              </a:rPr>
              <a:t>Cheffe</a:t>
            </a:r>
            <a:r>
              <a:rPr lang="en-US" sz="1000" dirty="0">
                <a:solidFill>
                  <a:srgbClr val="475569"/>
                </a:solidFill>
              </a:rPr>
              <a:t> de </a:t>
            </a:r>
            <a:r>
              <a:rPr lang="en-US" sz="1000" dirty="0" err="1">
                <a:solidFill>
                  <a:srgbClr val="475569"/>
                </a:solidFill>
              </a:rPr>
              <a:t>projet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Najlae BETTACHE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514600" y="149860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fr-FR" sz="800" dirty="0">
              <a:solidFill>
                <a:srgbClr val="475569"/>
              </a:solidFill>
            </a:endParaRPr>
          </a:p>
          <a:p>
            <a:r>
              <a:rPr lang="fr-FR" sz="800" dirty="0">
                <a:solidFill>
                  <a:srgbClr val="475569"/>
                </a:solidFill>
              </a:rPr>
              <a:t>Coordination, développement de fonctionnalités, validation des étapes, corrections, intégration finale et packaging Maven.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31520" y="2048256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15798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Mamadou Sadio DIALLO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514600" y="2157984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Interface Swing, rendu hexagonal, écran d’accueil, aide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Boubacar BOULKASSOUM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514600" y="274320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Modèle objet, joueurs, explorateurs, bateaux, tests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32841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Nathanaël FOUODJI DJOUDA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14600" y="332841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Déplacements, contexte de mouvement, contrôle des bateaux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1520" y="3803904"/>
            <a:ext cx="42519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2545"/>
                </a:solidFill>
              </a:rPr>
              <a:t>Uriel Ange Javituriel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14600" y="391363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Moteur de jeu, tuiles, créatures, contrôleur d’interaction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943600" y="1353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</a:rPr>
              <a:t>Phases de développement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623560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63640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64808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104888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306056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946136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147304" y="1920240"/>
            <a:ext cx="640080" cy="548640"/>
          </a:xfrm>
          <a:prstGeom prst="hexagon">
            <a:avLst/>
          </a:prstGeom>
          <a:solidFill>
            <a:srgbClr val="00A6B4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787384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988552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628632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9829800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0469880" y="2194560"/>
            <a:ext cx="2011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0671048" y="1920240"/>
            <a:ext cx="640080" cy="548640"/>
          </a:xfrm>
          <a:prstGeom prst="hexagon">
            <a:avLst/>
          </a:prstGeom>
          <a:solidFill>
            <a:srgbClr val="FFD166"/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577840" y="28346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Modèle → Setup → Déplacements → Moteur → Interface → Tests → Packaging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64808" y="4582160"/>
            <a:ext cx="3522472" cy="20380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3970">
            <a:solidFill>
              <a:srgbClr val="CBD5E1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Java 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Swing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 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 JUnit 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Git/GitHub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569"/>
                </a:solidFill>
              </a:rPr>
              <a:t>IntelliJ IDEA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36208" y="40782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</a:rPr>
              <a:t>Outils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58000" y="4069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2237"/>
          </a:solidFill>
          <a:ln w="12700">
            <a:solidFill>
              <a:srgbClr val="0622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00A6B4"/>
          </a:solidFill>
          <a:ln w="12700">
            <a:solidFill>
              <a:srgbClr val="00A6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11480" y="1188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Problèmes rencontrés et solutions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778240" y="146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FF7FF"/>
                </a:solidFill>
              </a:rPr>
              <a:t>Projet POO • The Island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78638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difficultés techniques traitées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6928" y="1417320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011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965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Voisins hexagonaux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389120" y="19933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Deux offsets pair/impair + tests sur Board.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68680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E7F9"/>
                </a:solidFill>
              </a:rPr>
              <a:t>◆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4440" y="2633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Contrôle des bateaux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38912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BoatControlService : majorité ou égalité.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68680" y="33467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34440" y="33009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Phases de jeu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38912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DemoPhase + SelectionKind pour gérer les clics.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86868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E7F9"/>
                </a:solidFill>
              </a:rPr>
              <a:t>◆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34440" y="3968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Rendu Swing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389120" y="3995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Java2D, polygones, surlignages et tooltips.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868680" y="46817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166"/>
                </a:solidFill>
              </a:rPr>
              <a:t>◆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34440" y="4636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Effets des tuiles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389120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F8FF"/>
                </a:solidFill>
              </a:rPr>
              <a:t>TileEffect traité par TileRemovalService.</a:t>
            </a:r>
            <a:endParaRPr lang="en-US" sz="1120" dirty="0"/>
          </a:p>
        </p:txBody>
      </p:sp>
      <p:sp>
        <p:nvSpPr>
          <p:cNvPr id="27" name="Text 23"/>
          <p:cNvSpPr/>
          <p:nvPr/>
        </p:nvSpPr>
        <p:spPr>
          <a:xfrm>
            <a:off x="8961120" y="480974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3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9798927-7899-6783-61DB-7644213C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01" y="1911096"/>
            <a:ext cx="5376059" cy="374733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07C740A-E3B4-3CD7-C8DA-11A835FE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41" y="1914284"/>
            <a:ext cx="4776731" cy="37409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85052CB-6770-4325-F954-CDBACA7AA2A2}"/>
              </a:ext>
            </a:extLst>
          </p:cNvPr>
          <p:cNvSpPr txBox="1"/>
          <p:nvPr/>
        </p:nvSpPr>
        <p:spPr>
          <a:xfrm>
            <a:off x="5801360" y="62875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ADDE8"/>
                </a:solidFill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A5F3B-FD2D-E638-94B1-CCDCA0F5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93133-F0A2-BFC8-7F71-3E243A2FB898}"/>
              </a:ext>
            </a:extLst>
          </p:cNvPr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5D3F3-26C1-59BB-99F3-2CC3E92638B3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3864C1-75B5-2C46-EEC6-464C2CED971C}"/>
              </a:ext>
            </a:extLst>
          </p:cNvPr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B28816-1451-894F-3ACE-2CB7BC29A951}"/>
              </a:ext>
            </a:extLst>
          </p:cNvPr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5BA601-630E-CC09-FC22-0F17DF22321C}"/>
              </a:ext>
            </a:extLst>
          </p:cNvPr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5816402-3AF9-C891-8BB1-79362CD1167D}"/>
              </a:ext>
            </a:extLst>
          </p:cNvPr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6D2A3E-7FAF-6CD3-1A06-EB4A8091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27048"/>
            <a:ext cx="5311427" cy="40563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4670F46-61FD-4CF3-1AAB-04D6F9737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42" y="1547161"/>
            <a:ext cx="5280945" cy="40161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82C0386-0D15-0DA6-6C64-2A37E872DC88}"/>
              </a:ext>
            </a:extLst>
          </p:cNvPr>
          <p:cNvSpPr txBox="1"/>
          <p:nvPr/>
        </p:nvSpPr>
        <p:spPr>
          <a:xfrm>
            <a:off x="5905787" y="6353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ADDE8"/>
                </a:solidFill>
              </a:rPr>
              <a:t>17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4934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D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1CB66-EEA4-B861-2FB1-C7D51848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D7F1C5-662E-1187-15B1-CDAAF817C9C6}"/>
              </a:ext>
            </a:extLst>
          </p:cNvPr>
          <p:cNvSpPr txBox="1"/>
          <p:nvPr/>
        </p:nvSpPr>
        <p:spPr>
          <a:xfrm>
            <a:off x="594360" y="3200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Captures clés de l'application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E7FE-48A3-5B32-8714-16B4524EC316}"/>
              </a:ext>
            </a:extLst>
          </p:cNvPr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6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D7A763-319A-32C8-B7FF-D1448C7805AD}"/>
              </a:ext>
            </a:extLst>
          </p:cNvPr>
          <p:cNvSpPr/>
          <p:nvPr/>
        </p:nvSpPr>
        <p:spPr>
          <a:xfrm>
            <a:off x="79552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8D9008A-DCAB-481E-4184-2634C652DC1C}"/>
              </a:ext>
            </a:extLst>
          </p:cNvPr>
          <p:cNvSpPr/>
          <p:nvPr/>
        </p:nvSpPr>
        <p:spPr>
          <a:xfrm>
            <a:off x="6464808" y="152704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C10892-C43C-9353-C267-9FF8B02058CC}"/>
              </a:ext>
            </a:extLst>
          </p:cNvPr>
          <p:cNvSpPr/>
          <p:nvPr/>
        </p:nvSpPr>
        <p:spPr>
          <a:xfrm>
            <a:off x="79552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7CD2FD-533D-8DA6-33AC-3825A59E7487}"/>
              </a:ext>
            </a:extLst>
          </p:cNvPr>
          <p:cNvSpPr/>
          <p:nvPr/>
        </p:nvSpPr>
        <p:spPr>
          <a:xfrm>
            <a:off x="6464808" y="4087368"/>
            <a:ext cx="3749039" cy="384048"/>
          </a:xfrm>
          <a:prstGeom prst="roundRect">
            <a:avLst/>
          </a:prstGeom>
          <a:solidFill>
            <a:srgbClr val="052D3D"/>
          </a:solidFill>
          <a:ln>
            <a:solidFill>
              <a:srgbClr val="0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72484C-0878-89BC-7FF2-76F67F08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89" y="1417745"/>
            <a:ext cx="3181840" cy="46591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8985C53-9817-2E19-059C-9D7EF1D8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507" y="1427675"/>
            <a:ext cx="3181840" cy="464919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AB905F1-E44D-38B9-6192-71D0A2FF1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625" y="1846842"/>
            <a:ext cx="4872203" cy="367242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2BD6F46-3986-03D3-594C-DE4536B5A221}"/>
              </a:ext>
            </a:extLst>
          </p:cNvPr>
          <p:cNvSpPr txBox="1"/>
          <p:nvPr/>
        </p:nvSpPr>
        <p:spPr>
          <a:xfrm>
            <a:off x="6050280" y="64639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ADDE8"/>
                </a:solidFill>
              </a:rPr>
              <a:t>18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9635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-128016"/>
            <a:ext cx="12191695" cy="6986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675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du projet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3232" y="1261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8FF"/>
                </a:solidFill>
              </a:rPr>
              <a:t>Une version jouable, structurée et exécutable de The Island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41248" y="205740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20574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Jeu jouable à 4 joueurs humains</a:t>
            </a:r>
            <a:endParaRPr lang="en-US" sz="1430" dirty="0"/>
          </a:p>
        </p:txBody>
      </p:sp>
      <p:sp>
        <p:nvSpPr>
          <p:cNvPr id="7" name="Text 4"/>
          <p:cNvSpPr/>
          <p:nvPr/>
        </p:nvSpPr>
        <p:spPr>
          <a:xfrm>
            <a:off x="841248" y="256032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560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Plateau interactif, tuiles, bateaux, nageurs</a:t>
            </a:r>
            <a:endParaRPr lang="en-US" sz="143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Créatures, dé, tuiles spéciales, volcan</a:t>
            </a:r>
            <a:endParaRPr lang="en-US" sz="1430" dirty="0"/>
          </a:p>
        </p:txBody>
      </p:sp>
      <p:sp>
        <p:nvSpPr>
          <p:cNvPr id="11" name="Text 8"/>
          <p:cNvSpPr/>
          <p:nvPr/>
        </p:nvSpPr>
        <p:spPr>
          <a:xfrm>
            <a:off x="841248" y="35661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34440" y="3566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Scores finaux avec valeurs cachées</a:t>
            </a:r>
            <a:endParaRPr lang="en-US" sz="1430" dirty="0"/>
          </a:p>
        </p:txBody>
      </p:sp>
      <p:sp>
        <p:nvSpPr>
          <p:cNvPr id="13" name="Text 10"/>
          <p:cNvSpPr/>
          <p:nvPr/>
        </p:nvSpPr>
        <p:spPr>
          <a:xfrm>
            <a:off x="841248" y="406908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40690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30" b="1" dirty="0">
                <a:solidFill>
                  <a:srgbClr val="FFFFFF"/>
                </a:solidFill>
              </a:rPr>
              <a:t>Architecture claire et build Maven</a:t>
            </a:r>
            <a:endParaRPr lang="en-US" sz="1430" dirty="0"/>
          </a:p>
        </p:txBody>
      </p:sp>
      <p:sp>
        <p:nvSpPr>
          <p:cNvPr id="15" name="Shape 12"/>
          <p:cNvSpPr/>
          <p:nvPr/>
        </p:nvSpPr>
        <p:spPr>
          <a:xfrm>
            <a:off x="7086600" y="4452620"/>
            <a:ext cx="4572000" cy="1143000"/>
          </a:xfrm>
          <a:prstGeom prst="roundRect">
            <a:avLst>
              <a:gd name="adj" fmla="val 3038"/>
            </a:avLst>
          </a:prstGeom>
          <a:solidFill>
            <a:srgbClr val="061C2D">
              <a:alpha val="97000"/>
            </a:srgbClr>
          </a:solidFill>
          <a:ln w="13970">
            <a:solidFill>
              <a:srgbClr val="6EE7F9">
                <a:alpha val="70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328408" y="483235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D166"/>
                </a:solidFill>
              </a:rPr>
              <a:t>Démonstration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28408" y="2798064"/>
            <a:ext cx="38862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DDE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1210</Words>
  <Application>Microsoft Office PowerPoint</Application>
  <PresentationFormat>Grand écran</PresentationFormat>
  <Paragraphs>269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Cascadia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IATIC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Island - Support de soutenance</dc:title>
  <dc:subject>The Island - Projet POO</dc:subject>
  <dc:creator>Groupe 5</dc:creator>
  <cp:lastModifiedBy>Najlae BETTACHE</cp:lastModifiedBy>
  <cp:revision>8</cp:revision>
  <cp:lastPrinted>2026-05-28T01:28:19Z</cp:lastPrinted>
  <dcterms:created xsi:type="dcterms:W3CDTF">2026-05-28T00:03:54Z</dcterms:created>
  <dcterms:modified xsi:type="dcterms:W3CDTF">2026-05-28T07:01:40Z</dcterms:modified>
</cp:coreProperties>
</file>