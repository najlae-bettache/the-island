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7" r:id="rId7"/>
    <p:sldId id="27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80" r:id="rId18"/>
    <p:sldId id="283" r:id="rId19"/>
    <p:sldId id="269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-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168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36D8-E34E-6D9D-4D54-F828E52E6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E2BE5-B12A-EC3A-D1D3-EB5489437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FC553-C4DA-9824-7B75-3F5FF6B98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573C1-D78E-7F4F-8B0A-94281951A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63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D0C9-9522-C2BB-00C2-F6C1FDD85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1152E-5071-AEBB-6BC5-4A5A57BDF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13250-6333-5713-DCBA-42BA0CCDC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F6E79-B1DE-EC6B-867D-CFBD2B4529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1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284276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ISLAND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713232" y="1344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8752" y="4234688"/>
            <a:ext cx="3886200" cy="402336"/>
          </a:xfrm>
          <a:prstGeom prst="roundRect">
            <a:avLst>
              <a:gd name="adj" fmla="val 27273"/>
            </a:avLst>
          </a:prstGeom>
          <a:solidFill>
            <a:srgbClr val="00A6B4">
              <a:alpha val="90000"/>
            </a:srgbClr>
          </a:solidFill>
          <a:ln w="12700">
            <a:solidFill>
              <a:srgbClr val="00A6B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Text 3"/>
          <p:cNvSpPr/>
          <p:nvPr/>
        </p:nvSpPr>
        <p:spPr>
          <a:xfrm>
            <a:off x="428752" y="4358132"/>
            <a:ext cx="3593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Projet POO • Java 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3232" y="6016752"/>
            <a:ext cx="4754880" cy="0"/>
          </a:xfrm>
          <a:prstGeom prst="line">
            <a:avLst/>
          </a:prstGeom>
          <a:noFill/>
          <a:ln w="19050">
            <a:solidFill>
              <a:srgbClr val="6EE7F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713232" y="618134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BFF"/>
                </a:solidFill>
              </a:rPr>
              <a:t>Najlae BETTACHE • Mamadou Sadio DIALLO • Boubacar BOULKASSOUM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FBFF"/>
                </a:solidFill>
              </a:rPr>
              <a:t>Nathanaël FOUODJI DJOUDA • Uriel Ange Javituriel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soutenance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0080" y="84124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F8FF"/>
                </a:solidFill>
              </a:rPr>
              <a:t>Notre présentation suit le trajet d’une partie : de l’objectif du jeu jusqu’au bilan technique.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64592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61C2D">
              <a:alpha val="92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941832" y="19385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54480" y="181051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54480" y="21488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Introduction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et contexte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4297680" y="141732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61C2D">
              <a:alpha val="92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462272" y="17099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074920" y="158191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74920" y="19202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Architecture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et modèle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7818120" y="164592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61C2D">
              <a:alpha val="92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7982712" y="19385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595360" y="181051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595360" y="21488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Services métier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et interface Swing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7818120" y="416052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61C2D">
              <a:alpha val="92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7982712" y="44531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595360" y="432511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04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595360" y="46634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Tests unitaires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et manuel utilisateur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4297680" y="443484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61C2D">
              <a:alpha val="92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462272" y="47274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074920" y="459943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05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074920" y="49377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Planning, tâches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et outils</a:t>
            </a:r>
            <a:endParaRPr lang="en-US" sz="1320" dirty="0"/>
          </a:p>
        </p:txBody>
      </p:sp>
      <p:sp>
        <p:nvSpPr>
          <p:cNvPr id="28" name="Shape 25"/>
          <p:cNvSpPr/>
          <p:nvPr/>
        </p:nvSpPr>
        <p:spPr>
          <a:xfrm>
            <a:off x="777240" y="416052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61C2D">
              <a:alpha val="92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941832" y="44531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554480" y="432511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06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554480" y="46634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Problèmes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et bilan</a:t>
            </a:r>
            <a:endParaRPr lang="en-US" sz="1320" dirty="0"/>
          </a:p>
        </p:txBody>
      </p:sp>
      <p:sp>
        <p:nvSpPr>
          <p:cNvPr id="32" name="Text 29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et contexte du projet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 : rendre The Island jouable sur ordinateur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</a:rPr>
              <a:t>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2587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D7F8FF"/>
                </a:solidFill>
              </a:rPr>
              <a:t>joueurs humains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2148840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EE7F9"/>
                </a:solidFill>
              </a:rPr>
              <a:t>40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148840" y="2587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D7F8FF"/>
                </a:solidFill>
              </a:rPr>
              <a:t>tuiles terrain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3520440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520440" y="2587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D7F8FF"/>
                </a:solidFill>
              </a:rPr>
              <a:t>créatures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4892040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</a:rPr>
              <a:t>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892040" y="2587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D7F8FF"/>
                </a:solidFill>
              </a:rPr>
              <a:t>volcan final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713232" y="3063240"/>
            <a:ext cx="5440680" cy="2834640"/>
          </a:xfrm>
          <a:prstGeom prst="roundRect">
            <a:avLst>
              <a:gd name="adj" fmla="val 3871"/>
            </a:avLst>
          </a:prstGeom>
          <a:solidFill>
            <a:srgbClr val="061C2D">
              <a:alpha val="93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960120" y="3566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8444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Contexte de jeu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600200" y="387705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Les explorateurs fuient une île qui s’enfonce progressivement.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60120" y="43159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600200" y="433425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But du joueur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1600200" y="4626864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Sauver un maximum d’explorateurs avant l’éruption du volcan.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60120" y="50657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600200" y="508406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Contraintes projet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1600200" y="537667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Java, Swing, Maven, plusieurs joueurs sur une seule machine.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601968" y="1755648"/>
            <a:ext cx="4764024" cy="3758184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13970">
            <a:solidFill>
              <a:srgbClr val="CFFAFE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8" name="Image 1" descr="/mnt/data/image(40).png"/>
          <p:cNvPicPr>
            <a:picLocks noChangeAspect="1"/>
          </p:cNvPicPr>
          <p:nvPr/>
        </p:nvPicPr>
        <p:blipFill>
          <a:blip r:embed="rId4"/>
          <a:srcRect l="6307" r="6306"/>
          <a:stretch/>
        </p:blipFill>
        <p:spPr>
          <a:xfrm>
            <a:off x="6629400" y="1783080"/>
            <a:ext cx="4709160" cy="37033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6739128" y="5102352"/>
            <a:ext cx="4489704" cy="274320"/>
          </a:xfrm>
          <a:prstGeom prst="roundRect">
            <a:avLst>
              <a:gd name="adj" fmla="val 26667"/>
            </a:avLst>
          </a:prstGeom>
          <a:solidFill>
            <a:srgbClr val="061C2D">
              <a:alpha val="94000"/>
            </a:srgbClr>
          </a:solidFill>
          <a:ln w="12700">
            <a:solidFill>
              <a:srgbClr val="061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6858000" y="5175504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Écran d’accueil du jeu</a:t>
            </a:r>
            <a:endParaRPr lang="en-US" sz="930" dirty="0"/>
          </a:p>
        </p:txBody>
      </p:sp>
      <p:sp>
        <p:nvSpPr>
          <p:cNvPr id="31" name="Text 27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Déroulement d’une partie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boucle de tour claire et contrôlée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F7FF"/>
                </a:solidFill>
              </a:rPr>
              <a:t>Chaque action est vérifiée avant d’être appliquée au modèle de jeu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057400"/>
            <a:ext cx="1234440" cy="1078992"/>
          </a:xfrm>
          <a:prstGeom prst="hexagon">
            <a:avLst/>
          </a:prstGeom>
          <a:solidFill>
            <a:srgbClr val="FFD166"/>
          </a:solidFill>
          <a:ln w="19050">
            <a:solidFill>
              <a:srgbClr val="FFFFFF">
                <a:alpha val="8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4183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28800" y="2587752"/>
            <a:ext cx="649224" cy="0"/>
          </a:xfrm>
          <a:prstGeom prst="line">
            <a:avLst/>
          </a:prstGeom>
          <a:noFill/>
          <a:ln w="17780">
            <a:solidFill>
              <a:srgbClr val="BFF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Tuile en main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320" y="3721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BFF7FF"/>
                </a:solidFill>
              </a:rPr>
              <a:t>Jouer ou passer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514600" y="2057400"/>
            <a:ext cx="1234440" cy="1078992"/>
          </a:xfrm>
          <a:prstGeom prst="hexagon">
            <a:avLst/>
          </a:prstGeom>
          <a:solidFill>
            <a:srgbClr val="00A6B4"/>
          </a:solidFill>
          <a:ln w="19050">
            <a:solidFill>
              <a:srgbClr val="FFFFFF">
                <a:alpha val="8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86207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49040" y="2587752"/>
            <a:ext cx="649224" cy="0"/>
          </a:xfrm>
          <a:prstGeom prst="line">
            <a:avLst/>
          </a:prstGeom>
          <a:noFill/>
          <a:ln w="17780">
            <a:solidFill>
              <a:srgbClr val="BFF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28600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Déplacements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94560" y="3721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BFF7FF"/>
                </a:solidFill>
              </a:rPr>
              <a:t>3 points par tour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434840" y="2057400"/>
            <a:ext cx="1234440" cy="1078992"/>
          </a:xfrm>
          <a:prstGeom prst="hexagon">
            <a:avLst/>
          </a:prstGeom>
          <a:solidFill>
            <a:srgbClr val="FFD166"/>
          </a:solidFill>
          <a:ln w="19050">
            <a:solidFill>
              <a:srgbClr val="FFFFFF">
                <a:alpha val="8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8231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669280" y="2587752"/>
            <a:ext cx="649224" cy="0"/>
          </a:xfrm>
          <a:prstGeom prst="line">
            <a:avLst/>
          </a:prstGeom>
          <a:noFill/>
          <a:ln w="17780">
            <a:solidFill>
              <a:srgbClr val="BFF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20624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Retrait terrain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14800" y="3721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BFF7FF"/>
                </a:solidFill>
              </a:rPr>
              <a:t>Plage → forêt → montagne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355080" y="2057400"/>
            <a:ext cx="1234440" cy="1078992"/>
          </a:xfrm>
          <a:prstGeom prst="hexagon">
            <a:avLst/>
          </a:prstGeom>
          <a:solidFill>
            <a:srgbClr val="00A6B4"/>
          </a:solidFill>
          <a:ln w="19050">
            <a:solidFill>
              <a:srgbClr val="FFFFFF">
                <a:alpha val="8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70255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89520" y="2587752"/>
            <a:ext cx="649224" cy="0"/>
          </a:xfrm>
          <a:prstGeom prst="line">
            <a:avLst/>
          </a:prstGeom>
          <a:noFill/>
          <a:ln w="17780">
            <a:solidFill>
              <a:srgbClr val="BFF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2648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Dé créature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0" y="3721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BFF7FF"/>
                </a:solidFill>
              </a:rPr>
              <a:t>Serpent / requin / baleine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275320" y="2057400"/>
            <a:ext cx="1234440" cy="1078992"/>
          </a:xfrm>
          <a:prstGeom prst="hexagon">
            <a:avLst/>
          </a:prstGeom>
          <a:solidFill>
            <a:srgbClr val="FFD166"/>
          </a:solidFill>
          <a:ln w="19050">
            <a:solidFill>
              <a:srgbClr val="FFFFFF">
                <a:alpha val="8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62279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509760" y="2587752"/>
            <a:ext cx="649224" cy="0"/>
          </a:xfrm>
          <a:prstGeom prst="line">
            <a:avLst/>
          </a:prstGeom>
          <a:noFill/>
          <a:ln w="17780">
            <a:solidFill>
              <a:srgbClr val="BFF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04672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Déplacement créature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955280" y="3721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BFF7FF"/>
                </a:solidFill>
              </a:rPr>
              <a:t>Effet immédiat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10195560" y="2057400"/>
            <a:ext cx="1234440" cy="1078992"/>
          </a:xfrm>
          <a:prstGeom prst="hexagon">
            <a:avLst/>
          </a:prstGeom>
          <a:solidFill>
            <a:srgbClr val="00A6B4"/>
          </a:solidFill>
          <a:ln w="19050">
            <a:solidFill>
              <a:srgbClr val="FFFFFF">
                <a:alpha val="8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054303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96696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Joueur suivant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875520" y="3721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BFF7FF"/>
                </a:solidFill>
              </a:rPr>
              <a:t>Tour en séquence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731520" y="4892040"/>
            <a:ext cx="1074420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10000"/>
            </a:srgbClr>
          </a:solidFill>
          <a:ln w="13970">
            <a:solidFill>
              <a:srgbClr val="7DD3FC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005840" y="5230368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À tout moment, les clics invalides sont refusés et un message explique la raison : case non adjacente, bateau plein, mauvaise phase, mauvaise tuile à retirer, etc.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générale du projet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Séparation claire des responsabilités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en couches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3533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B69"/>
                </a:solidFill>
              </a:rPr>
              <a:t>Les packages séparent l’affichage, la logique métier, les déplacements, l’initialisation et le modèle de domaine.</a:t>
            </a:r>
            <a:endParaRPr lang="en-US" sz="1250" dirty="0"/>
          </a:p>
        </p:txBody>
      </p:sp>
      <p:pic>
        <p:nvPicPr>
          <p:cNvPr id="8" name="Image 0" descr="/mnt/data/Diagramme_TheIsland_SansPhr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854" y="1700784"/>
            <a:ext cx="8831826" cy="49329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51148-C88F-5CA7-CC6D-FD2540B5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588043-6ECF-1301-173F-AA194EECD9D4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039221-BA6F-49AF-C422-AA0C7CABCBC6}"/>
              </a:ext>
            </a:extLst>
          </p:cNvPr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5A51DD-7055-5512-81ED-A78055189C79}"/>
              </a:ext>
            </a:extLst>
          </p:cNvPr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générale du projet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FB8BEB-403C-2193-85CB-C3CD002E120B}"/>
              </a:ext>
            </a:extLst>
          </p:cNvPr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Séparation claire des responsabilités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F99535-F2C3-EB9B-769E-2CF57AA9D6B1}"/>
              </a:ext>
            </a:extLst>
          </p:cNvPr>
          <p:cNvSpPr/>
          <p:nvPr/>
        </p:nvSpPr>
        <p:spPr>
          <a:xfrm>
            <a:off x="548640" y="8412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 des packages et rôles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3DE574C-9A63-23BB-5276-B1F0E7FDFFBE}"/>
              </a:ext>
            </a:extLst>
          </p:cNvPr>
          <p:cNvSpPr/>
          <p:nvPr/>
        </p:nvSpPr>
        <p:spPr>
          <a:xfrm>
            <a:off x="566928" y="13533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BA92447-59D4-3EBB-BCB9-ED501DF2E752}"/>
              </a:ext>
            </a:extLst>
          </p:cNvPr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05</a:t>
            </a:r>
            <a:endParaRPr lang="en-US" sz="8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9BD963E-6B6D-754B-4D08-F7A37B2686BE}"/>
              </a:ext>
            </a:extLst>
          </p:cNvPr>
          <p:cNvSpPr txBox="1"/>
          <p:nvPr/>
        </p:nvSpPr>
        <p:spPr>
          <a:xfrm>
            <a:off x="1982787" y="1830832"/>
            <a:ext cx="85582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fr.iatic.theisland.model</a:t>
            </a:r>
            <a:r>
              <a:rPr lang="fr-FR" b="1" dirty="0"/>
              <a:t> : </a:t>
            </a:r>
            <a:r>
              <a:rPr lang="fr-FR" dirty="0"/>
              <a:t>modèle de domaine principal : plateau, explorateurs, bateaux, créatures.</a:t>
            </a:r>
          </a:p>
          <a:p>
            <a:endParaRPr lang="fr-FR" dirty="0"/>
          </a:p>
          <a:p>
            <a:r>
              <a:rPr lang="fr-FR" b="1" dirty="0" err="1"/>
              <a:t>fr.iatic.theisland.setup</a:t>
            </a:r>
            <a:r>
              <a:rPr lang="fr-FR" b="1" dirty="0"/>
              <a:t> : </a:t>
            </a:r>
            <a:r>
              <a:rPr lang="fr-FR" dirty="0"/>
              <a:t>initialisation du plateau, des joueurs et de l’état de la partie.</a:t>
            </a:r>
          </a:p>
          <a:p>
            <a:endParaRPr lang="fr-FR" dirty="0"/>
          </a:p>
          <a:p>
            <a:r>
              <a:rPr lang="fr-FR" b="1" dirty="0" err="1"/>
              <a:t>fr.iatic.theisland.movement</a:t>
            </a:r>
            <a:r>
              <a:rPr lang="fr-FR" b="1" dirty="0"/>
              <a:t> : </a:t>
            </a:r>
            <a:r>
              <a:rPr lang="fr-FR" dirty="0"/>
              <a:t>règles de déplacement des explorateurs, nageurs et bateaux.</a:t>
            </a:r>
          </a:p>
          <a:p>
            <a:endParaRPr lang="fr-FR" dirty="0"/>
          </a:p>
          <a:p>
            <a:r>
              <a:rPr lang="fr-FR" b="1" dirty="0" err="1"/>
              <a:t>fr.iatic.theisland.engine</a:t>
            </a:r>
            <a:r>
              <a:rPr lang="fr-FR" b="1" dirty="0"/>
              <a:t> : </a:t>
            </a:r>
            <a:r>
              <a:rPr lang="fr-FR" dirty="0"/>
              <a:t>moteur du jeu, retrait des tuiles, effets, créatures et volcan.</a:t>
            </a:r>
          </a:p>
          <a:p>
            <a:endParaRPr lang="fr-FR" dirty="0"/>
          </a:p>
          <a:p>
            <a:r>
              <a:rPr lang="fr-FR" b="1" dirty="0" err="1"/>
              <a:t>fr.iatic.theisland.ui</a:t>
            </a:r>
            <a:r>
              <a:rPr lang="fr-FR" b="1" dirty="0"/>
              <a:t> : </a:t>
            </a:r>
            <a:r>
              <a:rPr lang="fr-FR" dirty="0"/>
              <a:t>interface graphique utilisateur basée sur Java Swing.</a:t>
            </a:r>
          </a:p>
          <a:p>
            <a:endParaRPr lang="fr-FR" dirty="0"/>
          </a:p>
          <a:p>
            <a:r>
              <a:rPr lang="fr-FR" b="1" dirty="0" err="1"/>
              <a:t>fr.iatic.theisland</a:t>
            </a:r>
            <a:r>
              <a:rPr lang="fr-FR" b="1" dirty="0"/>
              <a:t> : </a:t>
            </a:r>
            <a:r>
              <a:rPr lang="fr-FR" dirty="0"/>
              <a:t>point d’entrée de l’application avec la classe App.</a:t>
            </a:r>
          </a:p>
        </p:txBody>
      </p:sp>
    </p:spTree>
    <p:extLst>
      <p:ext uri="{BB962C8B-B14F-4D97-AF65-F5344CB8AC3E}">
        <p14:creationId xmlns:p14="http://schemas.microsoft.com/office/powerpoint/2010/main" val="124436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7FCF6-0B00-BED3-7DC3-A0AE46C75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4BB846-D86C-B457-23C2-D5668E4E1B71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CA5913-4617-89A5-BD2F-E9D186AFBF15}"/>
              </a:ext>
            </a:extLst>
          </p:cNvPr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556C78-5664-3557-71E0-8090ABA52DE0}"/>
              </a:ext>
            </a:extLst>
          </p:cNvPr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générale du projet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05BDCE-F212-EC82-1727-3C5D09C486A2}"/>
              </a:ext>
            </a:extLst>
          </p:cNvPr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Séparation claire des responsabilités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B117FD9-15D0-8B57-316D-42D9495B3144}"/>
              </a:ext>
            </a:extLst>
          </p:cNvPr>
          <p:cNvSpPr/>
          <p:nvPr/>
        </p:nvSpPr>
        <p:spPr>
          <a:xfrm>
            <a:off x="548640" y="841248"/>
            <a:ext cx="6601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Dépendances des modules et lancement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F3F1ECE-EACF-75F0-A93B-4E8F913D49B9}"/>
              </a:ext>
            </a:extLst>
          </p:cNvPr>
          <p:cNvSpPr/>
          <p:nvPr/>
        </p:nvSpPr>
        <p:spPr>
          <a:xfrm>
            <a:off x="566928" y="13533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EA338BE-2629-E3FD-A567-C72F646AD33D}"/>
              </a:ext>
            </a:extLst>
          </p:cNvPr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05</a:t>
            </a:r>
            <a:endParaRPr lang="en-US" sz="8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716132-6E5D-C729-2B00-D5D9603A351F}"/>
              </a:ext>
            </a:extLst>
          </p:cNvPr>
          <p:cNvSpPr txBox="1"/>
          <p:nvPr/>
        </p:nvSpPr>
        <p:spPr>
          <a:xfrm>
            <a:off x="965201" y="2084832"/>
            <a:ext cx="105836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Les couches supérieures utilisent les couches inférieures afin d’éviter les dépendances circulaires.</a:t>
            </a:r>
          </a:p>
          <a:p>
            <a:endParaRPr lang="fr-FR" b="1" dirty="0"/>
          </a:p>
          <a:p>
            <a:r>
              <a:rPr lang="fr-FR" b="1" dirty="0"/>
              <a:t>Le modèle et les services métier ne dépendent pas de l’interface graphique, ce qui rend le cœur logique réutilisable.</a:t>
            </a:r>
          </a:p>
          <a:p>
            <a:endParaRPr lang="fr-FR" b="1" dirty="0"/>
          </a:p>
          <a:p>
            <a:r>
              <a:rPr lang="fr-FR" b="1" dirty="0"/>
              <a:t>Le point d’entrée est la classe App, qui initialise Swing et lance l’écran d’accueil </a:t>
            </a:r>
            <a:r>
              <a:rPr lang="fr-FR" b="1" dirty="0" err="1"/>
              <a:t>WelcomeFrame</a:t>
            </a:r>
            <a:r>
              <a:rPr lang="fr-FR" b="1" dirty="0"/>
              <a:t>.</a:t>
            </a:r>
          </a:p>
          <a:p>
            <a:endParaRPr lang="fr-FR" b="1" dirty="0"/>
          </a:p>
          <a:p>
            <a:r>
              <a:rPr lang="fr-FR" b="1" dirty="0"/>
              <a:t>L’application utilise Java Swing avec le look-and-</a:t>
            </a:r>
            <a:r>
              <a:rPr lang="fr-FR" b="1" dirty="0" err="1"/>
              <a:t>feel</a:t>
            </a:r>
            <a:r>
              <a:rPr lang="fr-FR" b="1" dirty="0"/>
              <a:t> Nimbus pour une interface plus moderne.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8259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Modèle de domaine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objets qui représentent le jeu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F7FF"/>
                </a:solidFill>
              </a:rPr>
              <a:t>Le modèle reste indépendant de l’interface graphique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1874520"/>
            <a:ext cx="3337560" cy="3611880"/>
          </a:xfrm>
          <a:prstGeom prst="roundRect">
            <a:avLst>
              <a:gd name="adj" fmla="val 3288"/>
            </a:avLst>
          </a:prstGeom>
          <a:solidFill>
            <a:srgbClr val="061C2D">
              <a:alpha val="95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960120" y="2148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00200" y="21671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Board / HexCell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600200" y="245973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Grille hexagonale, voisins, cases de mer, terrains et abris.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60120" y="3154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31729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Explorer / Boat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600200" y="346557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Explorateurs, valeurs cachées, statut, passagers et capacité.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60120" y="4160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600200" y="41788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Creature / Dice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600200" y="447141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Serpent, requin, baleine et résultat aléatoire du dé.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17720" y="1874520"/>
            <a:ext cx="3063240" cy="3611880"/>
          </a:xfrm>
          <a:prstGeom prst="roundRect">
            <a:avLst>
              <a:gd name="adj" fmla="val 3582"/>
            </a:avLst>
          </a:prstGeom>
          <a:solidFill>
            <a:srgbClr val="061C2D">
              <a:alpha val="95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846320" y="2148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486400" y="21671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GameState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5486400" y="24597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Phase, joueur actif, tuiles en main, fin de partie et scores.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46320" y="3154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486400" y="317296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PieceState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5486400" y="34655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Source centrale des joueurs, explorateurs et bateaux.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46320" y="4160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5486400" y="41788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TerrainTile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5486400" y="447141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Type de terrain + effet caché via TileEffect.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065008" y="1161288"/>
            <a:ext cx="3575304" cy="4535424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3970">
            <a:solidFill>
              <a:srgbClr val="CFFAFE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7"/>
          <p:cNvSpPr/>
          <p:nvPr/>
        </p:nvSpPr>
        <p:spPr>
          <a:xfrm>
            <a:off x="8202168" y="5285232"/>
            <a:ext cx="3300984" cy="274320"/>
          </a:xfrm>
          <a:prstGeom prst="roundRect">
            <a:avLst>
              <a:gd name="adj" fmla="val 26667"/>
            </a:avLst>
          </a:prstGeom>
          <a:solidFill>
            <a:srgbClr val="061C2D">
              <a:alpha val="94000"/>
            </a:srgbClr>
          </a:solidFill>
          <a:ln w="12700">
            <a:solidFill>
              <a:srgbClr val="061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/>
          <p:nvPr/>
        </p:nvSpPr>
        <p:spPr>
          <a:xfrm>
            <a:off x="8321040" y="5358384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Plateau + panneau infos</a:t>
            </a:r>
            <a:endParaRPr lang="en-US" sz="930" dirty="0"/>
          </a:p>
        </p:txBody>
      </p:sp>
      <p:sp>
        <p:nvSpPr>
          <p:cNvPr id="33" name="Text 29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06</a:t>
            </a:r>
            <a:endParaRPr lang="en-US" sz="800" dirty="0"/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D003DBB1-3351-72B9-4F2A-A423408FB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1161288"/>
            <a:ext cx="3577071" cy="41239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 métier et logique du jeu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Trois services au cœur des règles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F7FF"/>
                </a:solidFill>
              </a:rPr>
              <a:t>Les règles sont centralisées hors de l’interface pour rester testables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061C2D">
              <a:alpha val="95000"/>
            </a:srgbClr>
          </a:solidFill>
          <a:ln w="13970">
            <a:solidFill>
              <a:srgbClr val="FFD166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014984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737360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MovementService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25054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Déplacements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F8FF"/>
                </a:solidFill>
              </a:rPr>
              <a:t>Explorateur, nageur, bateau, passager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7F8FF"/>
                </a:solidFill>
              </a:rPr>
              <a:t>3 points par tour, bateau contrôlé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4407408"/>
            <a:ext cx="2057400" cy="402336"/>
          </a:xfrm>
          <a:prstGeom prst="roundRect">
            <a:avLst>
              <a:gd name="adj" fmla="val 27273"/>
            </a:avLst>
          </a:prstGeom>
          <a:solidFill>
            <a:srgbClr val="F97316">
              <a:alpha val="90000"/>
            </a:srgbClr>
          </a:solidFill>
          <a:ln w="12700">
            <a:solidFill>
              <a:srgbClr val="F9731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563624" y="4517136"/>
            <a:ext cx="1764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movement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87452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061C2D">
              <a:alpha val="95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9744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5532120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TileRemovalService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32120" y="25054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Retrait des tuiles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3063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F8FF"/>
                </a:solidFill>
              </a:rPr>
              <a:t>Ordre plage → forêt → montagne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7F8FF"/>
                </a:solidFill>
              </a:rPr>
              <a:t>Effets : créature, bateau, tourbillon, volcan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0" y="4407408"/>
            <a:ext cx="2057400" cy="402336"/>
          </a:xfrm>
          <a:prstGeom prst="roundRect">
            <a:avLst>
              <a:gd name="adj" fmla="val 27273"/>
            </a:avLst>
          </a:prstGeom>
          <a:solidFill>
            <a:srgbClr val="00A6B4">
              <a:alpha val="90000"/>
            </a:srgbClr>
          </a:solidFill>
          <a:ln w="12700">
            <a:solidFill>
              <a:srgbClr val="00A6B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358384" y="4517136"/>
            <a:ext cx="1764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66760" y="187452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061C2D">
              <a:alpha val="95000"/>
            </a:srgbClr>
          </a:solidFill>
          <a:ln w="13970">
            <a:solidFill>
              <a:srgbClr val="34D39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604504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24" name="Text 22"/>
          <p:cNvSpPr/>
          <p:nvPr/>
        </p:nvSpPr>
        <p:spPr>
          <a:xfrm>
            <a:off x="9326880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CreatureManager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26880" y="25054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Créatures marines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0" y="3063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F8FF"/>
                </a:solidFill>
              </a:rPr>
              <a:t>Dé + déplacement + attaque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7F8FF"/>
                </a:solidFill>
              </a:rPr>
              <a:t>Serpent 1, requin 2, baleine 3 cases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4407408"/>
            <a:ext cx="2057400" cy="402336"/>
          </a:xfrm>
          <a:prstGeom prst="roundRect">
            <a:avLst>
              <a:gd name="adj" fmla="val 27273"/>
            </a:avLst>
          </a:prstGeom>
          <a:solidFill>
            <a:srgbClr val="34D399">
              <a:alpha val="90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9153144" y="4517136"/>
            <a:ext cx="1764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 graphique Swing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interface guidée pour jouer sans connaître le code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" y="1847088"/>
            <a:ext cx="3666744" cy="2386584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3970">
            <a:solidFill>
              <a:srgbClr val="CFFAFE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1" descr="/mnt/data/image(40).png"/>
          <p:cNvPicPr>
            <a:picLocks noChangeAspect="1"/>
          </p:cNvPicPr>
          <p:nvPr/>
        </p:nvPicPr>
        <p:blipFill>
          <a:blip r:embed="rId4"/>
          <a:srcRect t="3030" b="3030"/>
          <a:stretch/>
        </p:blipFill>
        <p:spPr>
          <a:xfrm>
            <a:off x="685800" y="1874520"/>
            <a:ext cx="3611880" cy="2331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95528" y="3822192"/>
            <a:ext cx="3392424" cy="274320"/>
          </a:xfrm>
          <a:prstGeom prst="roundRect">
            <a:avLst>
              <a:gd name="adj" fmla="val 26667"/>
            </a:avLst>
          </a:prstGeom>
          <a:solidFill>
            <a:srgbClr val="061C2D">
              <a:alpha val="94000"/>
            </a:srgbClr>
          </a:solidFill>
          <a:ln w="12700">
            <a:solidFill>
              <a:srgbClr val="061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914400" y="3895344"/>
            <a:ext cx="3154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Accueil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4498848" y="1755648"/>
            <a:ext cx="3803904" cy="2478024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13970">
            <a:solidFill>
              <a:srgbClr val="CFFAFE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2" descr="/mnt/data/image(61).png"/>
          <p:cNvPicPr>
            <a:picLocks noChangeAspect="1"/>
          </p:cNvPicPr>
          <p:nvPr/>
        </p:nvPicPr>
        <p:blipFill>
          <a:blip r:embed="rId5"/>
          <a:srcRect l="7229" r="7229"/>
          <a:stretch/>
        </p:blipFill>
        <p:spPr>
          <a:xfrm>
            <a:off x="4526280" y="1783080"/>
            <a:ext cx="3749040" cy="24231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636008" y="3822192"/>
            <a:ext cx="3529584" cy="274320"/>
          </a:xfrm>
          <a:prstGeom prst="roundRect">
            <a:avLst>
              <a:gd name="adj" fmla="val 26667"/>
            </a:avLst>
          </a:prstGeom>
          <a:solidFill>
            <a:srgbClr val="061C2D">
              <a:alpha val="94000"/>
            </a:srgbClr>
          </a:solidFill>
          <a:ln w="12700">
            <a:solidFill>
              <a:srgbClr val="061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1"/>
          <p:cNvSpPr/>
          <p:nvPr/>
        </p:nvSpPr>
        <p:spPr>
          <a:xfrm>
            <a:off x="4754880" y="3895344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Plateau de départ</a:t>
            </a:r>
            <a:endParaRPr lang="en-US" sz="930" dirty="0"/>
          </a:p>
        </p:txBody>
      </p:sp>
      <p:sp>
        <p:nvSpPr>
          <p:cNvPr id="17" name="Shape 12"/>
          <p:cNvSpPr/>
          <p:nvPr/>
        </p:nvSpPr>
        <p:spPr>
          <a:xfrm>
            <a:off x="8430768" y="1847088"/>
            <a:ext cx="3118104" cy="2386584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3970">
            <a:solidFill>
              <a:srgbClr val="CFFAFE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8" name="Image 3" descr="/mnt/data/image(62).png"/>
          <p:cNvPicPr>
            <a:picLocks noChangeAspect="1"/>
          </p:cNvPicPr>
          <p:nvPr/>
        </p:nvPicPr>
        <p:blipFill>
          <a:blip r:embed="rId6"/>
          <a:srcRect l="17345" r="17345"/>
          <a:stretch/>
        </p:blipFill>
        <p:spPr>
          <a:xfrm>
            <a:off x="8458200" y="1874520"/>
            <a:ext cx="3063240" cy="23317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567928" y="3822192"/>
            <a:ext cx="2843784" cy="274320"/>
          </a:xfrm>
          <a:prstGeom prst="roundRect">
            <a:avLst>
              <a:gd name="adj" fmla="val 26667"/>
            </a:avLst>
          </a:prstGeom>
          <a:solidFill>
            <a:srgbClr val="061C2D">
              <a:alpha val="94000"/>
            </a:srgbClr>
          </a:solidFill>
          <a:ln w="12700">
            <a:solidFill>
              <a:srgbClr val="061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4"/>
          <p:cNvSpPr/>
          <p:nvPr/>
        </p:nvSpPr>
        <p:spPr>
          <a:xfrm>
            <a:off x="8686800" y="389534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Partie en cours</a:t>
            </a:r>
            <a:endParaRPr lang="en-US" sz="930" dirty="0"/>
          </a:p>
        </p:txBody>
      </p:sp>
      <p:sp>
        <p:nvSpPr>
          <p:cNvPr id="21" name="Shape 15"/>
          <p:cNvSpPr/>
          <p:nvPr/>
        </p:nvSpPr>
        <p:spPr>
          <a:xfrm>
            <a:off x="822960" y="4663440"/>
            <a:ext cx="10561320" cy="731520"/>
          </a:xfrm>
          <a:prstGeom prst="roundRect">
            <a:avLst>
              <a:gd name="adj" fmla="val 15000"/>
            </a:avLst>
          </a:prstGeom>
          <a:solidFill>
            <a:srgbClr val="061C2D">
              <a:alpha val="97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1051560" y="491947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FBFF"/>
                </a:solidFill>
              </a:rPr>
              <a:t>Le contrôleur d’interaction transforme chaque clic en action : sélectionner, déplacer, retirer une tuile, lancer le dé ou déplacer une créature.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Interactions et validation des actions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84124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</a:rPr>
              <a:t>L’utilisateur clique, le jeu valide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15A66"/>
                </a:solidFill>
              </a:rPr>
              <a:t>Les actions impossibles sont bloquées avec un message explicite : c’est indispensable pour un jeu multi-joueurs humain.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46480" y="1847088"/>
            <a:ext cx="4348480" cy="3300984"/>
          </a:xfrm>
          <a:prstGeom prst="roundRect">
            <a:avLst>
              <a:gd name="adj" fmla="val 2216"/>
            </a:avLst>
          </a:prstGeom>
          <a:solidFill>
            <a:srgbClr val="FFFFFF"/>
          </a:solidFill>
          <a:ln w="13970">
            <a:solidFill>
              <a:srgbClr val="CFFAFE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1065276" y="4768596"/>
            <a:ext cx="4207764" cy="274320"/>
          </a:xfrm>
          <a:prstGeom prst="roundRect">
            <a:avLst>
              <a:gd name="adj" fmla="val 26667"/>
            </a:avLst>
          </a:prstGeom>
          <a:solidFill>
            <a:srgbClr val="061C2D">
              <a:alpha val="94000"/>
            </a:srgbClr>
          </a:solidFill>
          <a:ln w="12700">
            <a:solidFill>
              <a:srgbClr val="061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868680" y="4809744"/>
            <a:ext cx="4526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Surlignages et clics sur le plateau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6263640" y="1947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83680" y="1920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</a:rPr>
              <a:t>Phase correcte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583680" y="22037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Un clic ne produit pas la même action selon la phase.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63640" y="2697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83680" y="2670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</a:rPr>
              <a:t>Cible valide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583680" y="29535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Adjacence, case mer, bateau contrôlé, capacité de 3.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63640" y="34472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583680" y="34198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</a:rPr>
              <a:t>Effet automatique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583680" y="37033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Créatures, tuiles et volcan sont résolus immédiatement.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63640" y="41970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83680" y="4169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</a:rPr>
              <a:t>Message joueur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583680" y="44531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L’interface explique pourquoi une action est refusée.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09</a:t>
            </a:r>
            <a:endParaRPr lang="en-US" sz="8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FDEE6402-3843-9956-6910-D9F4AC28F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676" y="1860321"/>
            <a:ext cx="3754484" cy="2853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Règles importantes et effets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règles critiques sont prises en compte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182880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061C2D">
              <a:alpha val="94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1005840" y="21579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45920" y="2075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Requin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645920" y="24323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F8FF"/>
                </a:solidFill>
              </a:rPr>
              <a:t>Élimine les nageurs uniquement. Les bateaux restent.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061C2D">
              <a:alpha val="94000"/>
            </a:srgbClr>
          </a:solidFill>
          <a:ln w="13970">
            <a:solidFill>
              <a:srgbClr val="34D39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709160" y="21579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349240" y="2075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Baleine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349240" y="24323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F8FF"/>
                </a:solidFill>
              </a:rPr>
              <a:t>Chavire les bateaux occupés ; les passagers deviennent nageurs.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8183880" y="182880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061C2D">
              <a:alpha val="94000"/>
            </a:srgbClr>
          </a:solidFill>
          <a:ln w="13970">
            <a:solidFill>
              <a:srgbClr val="FFD166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8412480" y="21579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052560" y="2075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Serpent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9052560" y="24323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F8FF"/>
                </a:solidFill>
              </a:rPr>
              <a:t>Élimine nageurs et bateaux occupés sur sa case.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2606040" y="416052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061C2D">
              <a:alpha val="94000"/>
            </a:srgbClr>
          </a:solidFill>
          <a:ln w="13970">
            <a:solidFill>
              <a:srgbClr val="F97316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2834640" y="44897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3474720" y="44074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Volcan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3474720" y="47640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F8FF"/>
                </a:solidFill>
              </a:rPr>
              <a:t>Met immédiatement fin à la partie.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7040880" y="416052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061C2D">
              <a:alpha val="94000"/>
            </a:srgbClr>
          </a:solidFill>
          <a:ln w="13970">
            <a:solidFill>
              <a:srgbClr val="A855F7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7269480" y="44897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7909560" y="44074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Score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7909560" y="47640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F8FF"/>
                </a:solidFill>
              </a:rPr>
              <a:t>Somme des valeurs cachées des explorateurs sauvés.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 unitaires et exécutable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projet se compile et se lance hors IDE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F7FF"/>
                </a:solidFill>
              </a:rPr>
              <a:t>Maven + JUnit 5 + JAR exécutable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3794760" cy="2926080"/>
          </a:xfrm>
          <a:prstGeom prst="roundRect">
            <a:avLst>
              <a:gd name="adj" fmla="val 3750"/>
            </a:avLst>
          </a:prstGeom>
          <a:solidFill>
            <a:srgbClr val="061C2D">
              <a:alpha val="95000"/>
            </a:srgbClr>
          </a:solidFill>
          <a:ln w="13970">
            <a:solidFill>
              <a:srgbClr val="FFD166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87552" y="2148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D166"/>
                </a:solidFill>
              </a:rPr>
              <a:t>16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121408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tests unitaires JUnit 5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28803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8FF"/>
                </a:solidFill>
              </a:rPr>
              <a:t>BoardInitializationTest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8FF"/>
                </a:solidFill>
              </a:rPr>
              <a:t>GameSetupFactoryTest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8FF"/>
                </a:solidFill>
              </a:rPr>
              <a:t>InitialPlacementServiceTest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8FF"/>
                </a:solidFill>
              </a:rPr>
              <a:t>MovementServiceTest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00600" y="1828800"/>
            <a:ext cx="6675120" cy="2926080"/>
          </a:xfrm>
          <a:prstGeom prst="roundRect">
            <a:avLst>
              <a:gd name="adj" fmla="val 3750"/>
            </a:avLst>
          </a:prstGeom>
          <a:solidFill>
            <a:srgbClr val="000000">
              <a:alpha val="78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138928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Compilation et lancement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166360" y="2770632"/>
            <a:ext cx="58064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E7F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mvn clean package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EE7F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java -jar target/the-island-0.3.0-SNAPSHOT.jar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3794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D7F8FF"/>
                </a:solidFill>
              </a:rPr>
              <a:t>Le JAR permet de lancer le jeu sans passer par un éditeur.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Planning, répartition des tâches et outils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</a:rPr>
              <a:t>Organisation du groupe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39987" y="1362456"/>
            <a:ext cx="4251960" cy="521208"/>
          </a:xfrm>
          <a:prstGeom prst="roundRect">
            <a:avLst>
              <a:gd name="adj" fmla="val 17391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r>
              <a:rPr lang="en-US" sz="1000" dirty="0" err="1">
                <a:solidFill>
                  <a:srgbClr val="475569"/>
                </a:solidFill>
              </a:rPr>
              <a:t>Cheffe</a:t>
            </a:r>
            <a:r>
              <a:rPr lang="en-US" sz="1000" dirty="0">
                <a:solidFill>
                  <a:srgbClr val="475569"/>
                </a:solidFill>
              </a:rPr>
              <a:t> de </a:t>
            </a:r>
            <a:r>
              <a:rPr lang="en-US" sz="1000" dirty="0" err="1">
                <a:solidFill>
                  <a:srgbClr val="475569"/>
                </a:solidFill>
              </a:rPr>
              <a:t>projet</a:t>
            </a:r>
            <a:endParaRPr lang="en-US" sz="1000" dirty="0">
              <a:solidFill>
                <a:srgbClr val="475569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B2545"/>
                </a:solidFill>
              </a:rPr>
              <a:t>Najlae BETTACHE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514600" y="149860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fr-FR" sz="800" dirty="0">
              <a:solidFill>
                <a:srgbClr val="475569"/>
              </a:solidFill>
            </a:endParaRPr>
          </a:p>
          <a:p>
            <a:r>
              <a:rPr lang="fr-FR" sz="800" dirty="0">
                <a:solidFill>
                  <a:srgbClr val="475569"/>
                </a:solidFill>
              </a:rPr>
              <a:t>Coordination, développement de fonctionnalités, validation des étapes, corrections, intégration finale et packaging Maven.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31520" y="2048256"/>
            <a:ext cx="4251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14400" y="215798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B2545"/>
                </a:solidFill>
              </a:rPr>
              <a:t>Mamadou Sadio DIALLO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514600" y="2157984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</a:rPr>
              <a:t>Interface Swing, rendu hexagonal, écran d’accueil, aide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31520" y="2633472"/>
            <a:ext cx="4251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B2545"/>
                </a:solidFill>
              </a:rPr>
              <a:t>Boubacar BOULKASSOUM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514600" y="274320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</a:rPr>
              <a:t>Modèle objet, joueurs, explorateurs, bateaux, tests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31520" y="3218688"/>
            <a:ext cx="4251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14400" y="3328416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B2545"/>
                </a:solidFill>
              </a:rPr>
              <a:t>Nathanaël FOUODJI DJOUDA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514600" y="3328416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</a:rPr>
              <a:t>Déplacements, contexte de mouvement, contrôle des bateaux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31520" y="3803904"/>
            <a:ext cx="4251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14400" y="3913632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B2545"/>
                </a:solidFill>
              </a:rPr>
              <a:t>Uriel Ange Javituriel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514600" y="391363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</a:rPr>
              <a:t>Moteur de jeu, tuiles, créatures, contrôleur d’interaction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943600" y="1353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</a:rPr>
              <a:t>Phases de développement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623560" y="1920240"/>
            <a:ext cx="640080" cy="548640"/>
          </a:xfrm>
          <a:prstGeom prst="hexagon">
            <a:avLst/>
          </a:prstGeom>
          <a:solidFill>
            <a:srgbClr val="00A6B4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263640" y="2194560"/>
            <a:ext cx="2011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464808" y="1920240"/>
            <a:ext cx="640080" cy="548640"/>
          </a:xfrm>
          <a:prstGeom prst="hexagon">
            <a:avLst/>
          </a:prstGeom>
          <a:solidFill>
            <a:srgbClr val="00A6B4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7104888" y="2194560"/>
            <a:ext cx="2011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7306056" y="1920240"/>
            <a:ext cx="640080" cy="548640"/>
          </a:xfrm>
          <a:prstGeom prst="hexagon">
            <a:avLst/>
          </a:prstGeom>
          <a:solidFill>
            <a:srgbClr val="00A6B4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7946136" y="2194560"/>
            <a:ext cx="2011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8147304" y="1920240"/>
            <a:ext cx="640080" cy="548640"/>
          </a:xfrm>
          <a:prstGeom prst="hexagon">
            <a:avLst/>
          </a:prstGeom>
          <a:solidFill>
            <a:srgbClr val="00A6B4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8787384" y="2194560"/>
            <a:ext cx="2011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8988552" y="1920240"/>
            <a:ext cx="640080" cy="548640"/>
          </a:xfrm>
          <a:prstGeom prst="hexagon">
            <a:avLst/>
          </a:prstGeom>
          <a:solidFill>
            <a:srgbClr val="FFD166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9628632" y="2194560"/>
            <a:ext cx="2011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9829800" y="1920240"/>
            <a:ext cx="640080" cy="548640"/>
          </a:xfrm>
          <a:prstGeom prst="hexagon">
            <a:avLst/>
          </a:prstGeom>
          <a:solidFill>
            <a:srgbClr val="FFD166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10469880" y="2194560"/>
            <a:ext cx="2011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10671048" y="1920240"/>
            <a:ext cx="640080" cy="548640"/>
          </a:xfrm>
          <a:prstGeom prst="hexagon">
            <a:avLst/>
          </a:prstGeom>
          <a:solidFill>
            <a:srgbClr val="FFD166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577840" y="28346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Modèle → Setup → Déplacements → Moteur → Interface → Tests → Packaging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64808" y="4582160"/>
            <a:ext cx="3522472" cy="2038096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3970">
            <a:solidFill>
              <a:srgbClr val="CBD5E1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569"/>
                </a:solidFill>
              </a:rPr>
              <a:t>Java 17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569"/>
                </a:solidFill>
              </a:rPr>
              <a:t>Swing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569"/>
                </a:solidFill>
              </a:rPr>
              <a:t> Maven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569"/>
                </a:solidFill>
              </a:rPr>
              <a:t> JUnit 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569"/>
                </a:solidFill>
              </a:rPr>
              <a:t>Git/GitHub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569"/>
                </a:solidFill>
              </a:rPr>
              <a:t>IntelliJ IDEA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36208" y="40782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</a:rPr>
              <a:t>Outils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858000" y="40690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Problèmes rencontrés et solutions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difficultés techniques traitées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0116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D166"/>
                </a:solidFill>
              </a:rPr>
              <a:t>◆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34440" y="19659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Voisins hexagonaux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389120" y="19933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F8FF"/>
                </a:solidFill>
              </a:rPr>
              <a:t>Deux offsets pair/impair + tests sur Board.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868680" y="26791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E7F9"/>
                </a:solidFill>
              </a:rPr>
              <a:t>◆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34440" y="26334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Contrôle des bateaux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389120" y="26609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F8FF"/>
                </a:solidFill>
              </a:rPr>
              <a:t>BoatControlService : majorité ou égalité.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868680" y="33467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D166"/>
                </a:solidFill>
              </a:rPr>
              <a:t>◆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34440" y="33009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Phases de jeu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389120" y="33284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F8FF"/>
                </a:solidFill>
              </a:rPr>
              <a:t>DemoPhase + SelectionKind pour gérer les clics.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868680" y="40142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E7F9"/>
                </a:solidFill>
              </a:rPr>
              <a:t>◆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34440" y="39684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Rendu Swing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389120" y="3995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F8FF"/>
                </a:solidFill>
              </a:rPr>
              <a:t>Java2D, polygones, surlignages et tooltips.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868680" y="46817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D166"/>
                </a:solidFill>
              </a:rPr>
              <a:t>◆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34440" y="4636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Effets des tuiles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4389120" y="4663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F8FF"/>
                </a:solidFill>
              </a:rPr>
              <a:t>TileEffect traité par TileRemovalService.</a:t>
            </a:r>
            <a:endParaRPr lang="en-US" sz="1120" dirty="0"/>
          </a:p>
        </p:txBody>
      </p:sp>
      <p:sp>
        <p:nvSpPr>
          <p:cNvPr id="27" name="Text 23"/>
          <p:cNvSpPr/>
          <p:nvPr/>
        </p:nvSpPr>
        <p:spPr>
          <a:xfrm>
            <a:off x="8961120" y="4809744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30" dirty="0"/>
          </a:p>
        </p:txBody>
      </p:sp>
      <p:sp>
        <p:nvSpPr>
          <p:cNvPr id="28" name="Text 24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32004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Captures clés de l'application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65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5528" y="152704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64808" y="152704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95528" y="408736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64808" y="408736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D9798927-7899-6783-61DB-7644213C4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01" y="1911096"/>
            <a:ext cx="5376059" cy="3747336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D07C740A-E3B4-3CD7-C8DA-11A835FEB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429" y="1894033"/>
            <a:ext cx="4776731" cy="3740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D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A5F3B-FD2D-E638-94B1-CCDCA0F5C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E93133-F0A2-BFC8-7F71-3E243A2FB898}"/>
              </a:ext>
            </a:extLst>
          </p:cNvPr>
          <p:cNvSpPr txBox="1"/>
          <p:nvPr/>
        </p:nvSpPr>
        <p:spPr>
          <a:xfrm>
            <a:off x="594360" y="32004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Captures clés de l'application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D5D3F3-26C1-59BB-99F3-2CC3E92638B3}"/>
              </a:ext>
            </a:extLst>
          </p:cNvPr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65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F3864C1-75B5-2C46-EEC6-464C2CED971C}"/>
              </a:ext>
            </a:extLst>
          </p:cNvPr>
          <p:cNvSpPr/>
          <p:nvPr/>
        </p:nvSpPr>
        <p:spPr>
          <a:xfrm>
            <a:off x="795528" y="152704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7B28816-1451-894F-3ACE-2CB7BC29A951}"/>
              </a:ext>
            </a:extLst>
          </p:cNvPr>
          <p:cNvSpPr/>
          <p:nvPr/>
        </p:nvSpPr>
        <p:spPr>
          <a:xfrm>
            <a:off x="6464808" y="152704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E5BA601-630E-CC09-FC22-0F17DF22321C}"/>
              </a:ext>
            </a:extLst>
          </p:cNvPr>
          <p:cNvSpPr/>
          <p:nvPr/>
        </p:nvSpPr>
        <p:spPr>
          <a:xfrm>
            <a:off x="795528" y="408736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5816402-3AF9-C891-8BB1-79362CD1167D}"/>
              </a:ext>
            </a:extLst>
          </p:cNvPr>
          <p:cNvSpPr/>
          <p:nvPr/>
        </p:nvSpPr>
        <p:spPr>
          <a:xfrm>
            <a:off x="6464808" y="408736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36D2A3E-7FAF-6CD3-1A06-EB4A80916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27048"/>
            <a:ext cx="5311427" cy="405635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4670F46-61FD-4CF3-1AAB-04D6F9737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942" y="1527048"/>
            <a:ext cx="5280945" cy="401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49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D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1CB66-EEA4-B861-2FB1-C7D518485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D7F1C5-662E-1187-15B1-CDAAF817C9C6}"/>
              </a:ext>
            </a:extLst>
          </p:cNvPr>
          <p:cNvSpPr txBox="1"/>
          <p:nvPr/>
        </p:nvSpPr>
        <p:spPr>
          <a:xfrm>
            <a:off x="594360" y="32004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Captures clés de l'application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9FE7FE-48A3-5B32-8714-16B4524EC316}"/>
              </a:ext>
            </a:extLst>
          </p:cNvPr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65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1D7A763-319A-32C8-B7FF-D1448C7805AD}"/>
              </a:ext>
            </a:extLst>
          </p:cNvPr>
          <p:cNvSpPr/>
          <p:nvPr/>
        </p:nvSpPr>
        <p:spPr>
          <a:xfrm>
            <a:off x="795528" y="152704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8D9008A-DCAB-481E-4184-2634C652DC1C}"/>
              </a:ext>
            </a:extLst>
          </p:cNvPr>
          <p:cNvSpPr/>
          <p:nvPr/>
        </p:nvSpPr>
        <p:spPr>
          <a:xfrm>
            <a:off x="6464808" y="152704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DC10892-C43C-9353-C267-9FF8B02058CC}"/>
              </a:ext>
            </a:extLst>
          </p:cNvPr>
          <p:cNvSpPr/>
          <p:nvPr/>
        </p:nvSpPr>
        <p:spPr>
          <a:xfrm>
            <a:off x="795528" y="408736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87CD2FD-533D-8DA6-33AC-3825A59E7487}"/>
              </a:ext>
            </a:extLst>
          </p:cNvPr>
          <p:cNvSpPr/>
          <p:nvPr/>
        </p:nvSpPr>
        <p:spPr>
          <a:xfrm>
            <a:off x="6464808" y="408736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372484C-0878-89BC-7FF2-76F67F087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89" y="1417745"/>
            <a:ext cx="3181840" cy="465912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8985C53-9817-2E19-059C-9D7EF1D8B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507" y="1427675"/>
            <a:ext cx="3181840" cy="464919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AB905F1-E44D-38B9-6192-71D0A2FF1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625" y="1911096"/>
            <a:ext cx="4872203" cy="367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635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305" y="-128016"/>
            <a:ext cx="12191695" cy="6986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6751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Bilan du projet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13232" y="1261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F8FF"/>
                </a:solidFill>
              </a:rPr>
              <a:t>Une version jouable, structurée et exécutable de The Island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41248" y="205740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20574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30" b="1" dirty="0">
                <a:solidFill>
                  <a:srgbClr val="FFFFFF"/>
                </a:solidFill>
              </a:rPr>
              <a:t>Jeu jouable à 4 joueurs humains</a:t>
            </a:r>
            <a:endParaRPr lang="en-US" sz="1430" dirty="0"/>
          </a:p>
        </p:txBody>
      </p:sp>
      <p:sp>
        <p:nvSpPr>
          <p:cNvPr id="7" name="Text 4"/>
          <p:cNvSpPr/>
          <p:nvPr/>
        </p:nvSpPr>
        <p:spPr>
          <a:xfrm>
            <a:off x="841248" y="256032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2560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30" b="1" dirty="0">
                <a:solidFill>
                  <a:srgbClr val="FFFFFF"/>
                </a:solidFill>
              </a:rPr>
              <a:t>Plateau interactif, tuiles, bateaux, nageurs</a:t>
            </a:r>
            <a:endParaRPr lang="en-US" sz="1430" dirty="0"/>
          </a:p>
        </p:txBody>
      </p:sp>
      <p:sp>
        <p:nvSpPr>
          <p:cNvPr id="9" name="Text 6"/>
          <p:cNvSpPr/>
          <p:nvPr/>
        </p:nvSpPr>
        <p:spPr>
          <a:xfrm>
            <a:off x="841248" y="3063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34440" y="30632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30" b="1" dirty="0">
                <a:solidFill>
                  <a:srgbClr val="FFFFFF"/>
                </a:solidFill>
              </a:rPr>
              <a:t>Créatures, dé, tuiles spéciales, volcan</a:t>
            </a:r>
            <a:endParaRPr lang="en-US" sz="1430" dirty="0"/>
          </a:p>
        </p:txBody>
      </p:sp>
      <p:sp>
        <p:nvSpPr>
          <p:cNvPr id="11" name="Text 8"/>
          <p:cNvSpPr/>
          <p:nvPr/>
        </p:nvSpPr>
        <p:spPr>
          <a:xfrm>
            <a:off x="841248" y="356616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34440" y="35661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30" b="1" dirty="0">
                <a:solidFill>
                  <a:srgbClr val="FFFFFF"/>
                </a:solidFill>
              </a:rPr>
              <a:t>Scores finaux avec valeurs cachées</a:t>
            </a:r>
            <a:endParaRPr lang="en-US" sz="1430" dirty="0"/>
          </a:p>
        </p:txBody>
      </p:sp>
      <p:sp>
        <p:nvSpPr>
          <p:cNvPr id="13" name="Text 10"/>
          <p:cNvSpPr/>
          <p:nvPr/>
        </p:nvSpPr>
        <p:spPr>
          <a:xfrm>
            <a:off x="841248" y="406908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34440" y="40690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30" b="1" dirty="0">
                <a:solidFill>
                  <a:srgbClr val="FFFFFF"/>
                </a:solidFill>
              </a:rPr>
              <a:t>Architecture claire et build Maven</a:t>
            </a:r>
            <a:endParaRPr lang="en-US" sz="1430" dirty="0"/>
          </a:p>
        </p:txBody>
      </p:sp>
      <p:sp>
        <p:nvSpPr>
          <p:cNvPr id="15" name="Shape 12"/>
          <p:cNvSpPr/>
          <p:nvPr/>
        </p:nvSpPr>
        <p:spPr>
          <a:xfrm>
            <a:off x="7086600" y="4452620"/>
            <a:ext cx="4572000" cy="1143000"/>
          </a:xfrm>
          <a:prstGeom prst="roundRect">
            <a:avLst>
              <a:gd name="adj" fmla="val 3038"/>
            </a:avLst>
          </a:prstGeom>
          <a:solidFill>
            <a:srgbClr val="061C2D">
              <a:alpha val="97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7328408" y="483235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FFD166"/>
                </a:solidFill>
              </a:rPr>
              <a:t>Démonstration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328408" y="2798064"/>
            <a:ext cx="388620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13232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Merci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1207</Words>
  <Application>Microsoft Office PowerPoint</Application>
  <PresentationFormat>Grand écran</PresentationFormat>
  <Paragraphs>266</Paragraphs>
  <Slides>19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Cascadia Mono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IATIC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Island - Support de soutenance</dc:title>
  <dc:subject>The Island - Projet POO</dc:subject>
  <dc:creator>Groupe 5</dc:creator>
  <cp:lastModifiedBy>Najlae BETTACHE</cp:lastModifiedBy>
  <cp:revision>7</cp:revision>
  <cp:lastPrinted>2026-05-28T01:28:19Z</cp:lastPrinted>
  <dcterms:created xsi:type="dcterms:W3CDTF">2026-05-28T00:03:54Z</dcterms:created>
  <dcterms:modified xsi:type="dcterms:W3CDTF">2026-05-28T01:41:14Z</dcterms:modified>
</cp:coreProperties>
</file>